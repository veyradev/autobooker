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本系统以辅助完成一本书为目标，将传统写书流程拆解为多个可操作模块，并通过 AI 能力辅助用户完成大纲构建、章节生成、内容优化和成果导出。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用户可以通过新建书稿快速建立写作项目。系统根据书名、分类、体裁等基础信息，为后续大纲和正文生成提供方向约束。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书稿设定相当于整本书的写作约束。用户在这里定义读者、主题、篇幅和资料来源，系统据此生成更稳定的大纲和正文。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系统不是直接生成正文，而是先生成可编辑的大纲。用户可以在写作前检查结构，保证整本书的逻辑顺序和内容覆盖范围。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写作工作台采用三栏式结构：左侧管理章节，中间编辑正文，右侧提供 AI 辅助能力，形成从生成到修改再到优化的一体化写作环境。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AI 助手不是简单替代用户写作，而是面向局部文本提供辅助修改。用户可以先预览 AI 建议，再决定是否应用，保证修改过程可控。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系统不仅生成文字，也支持章节图表管理。用户可以根据正文中的图表占位生成插图，并在不满意时重新生成或上传本地图替换。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对于学术类或资料型书稿，系统提供参考资料和文献引用能力，使生成内容不只依赖模型本身，而是能够结合用户上传资料和检索结果进行写作。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审校模块用于完成从生成内容到可修改初稿的质量提升。系统会对章节进行结构、逻辑和表达检查，并提供可选择应用的优化建议。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系统最终支持将书稿导出为 Markdown、Word 或 PDF，使 AI 辅助写作成果能够进入后续排版、审阅和交付流程。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57200" y="285750"/>
            <a:ext cx="723900" cy="28575"/>
          </a:xfrm>
          <a:prstGeom prst="rect">
            <a:avLst/>
          </a:prstGeom>
          <a:solidFill>
            <a:srgbClr val="6F8FAE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220450" y="45720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6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57200" y="438150"/>
            <a:ext cx="1063053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AutoBooker：面向书稿创作的 AI 辅助写作工作台</a:t>
            </a:r>
            <a:endParaRPr sz="32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76250" y="1676400"/>
            <a:ext cx="44005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围绕“一本书”的生产流程：创建、设定、大纲与写作。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图表、文献、审校与导出形成闭环。</a:t>
            </a:r>
            <a:endParaRPr sz="18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椭圆 6"/>
          <p:cNvSpPr>
            <a:spLocks noGrp="1"/>
          </p:cNvSpPr>
          <p:nvPr/>
        </p:nvSpPr>
        <p:spPr>
          <a:xfrm>
            <a:off x="514350" y="2981325"/>
            <a:ext cx="95250" cy="95250"/>
          </a:xfrm>
          <a:prstGeom prst="ellipse">
            <a:avLst/>
          </a:prstGeom>
          <a:solidFill>
            <a:srgbClr val="6F8FAE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2895600"/>
            <a:ext cx="3867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书稿创建与项目管理</a:t>
            </a:r>
            <a:endParaRPr sz="16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514350" y="3438525"/>
            <a:ext cx="95250" cy="95250"/>
          </a:xfrm>
          <a:prstGeom prst="ellipse">
            <a:avLst/>
          </a:prstGeom>
          <a:solidFill>
            <a:srgbClr val="6F8FAE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42950" y="3352800"/>
            <a:ext cx="3867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大纲与逐章写作</a:t>
            </a:r>
            <a:endParaRPr sz="16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514350" y="3895725"/>
            <a:ext cx="95250" cy="95250"/>
          </a:xfrm>
          <a:prstGeom prst="ellipse">
            <a:avLst/>
          </a:prstGeom>
          <a:solidFill>
            <a:srgbClr val="6F8FAE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42950" y="3810000"/>
            <a:ext cx="3867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图表、文献、审校、导出闭环</a:t>
            </a:r>
            <a:endParaRPr sz="16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476250" y="5029200"/>
            <a:ext cx="4095750" cy="361950"/>
          </a:xfrm>
          <a:prstGeom prst="roundRect">
            <a:avLst/>
          </a:prstGeom>
          <a:solidFill>
            <a:srgbClr val="FFFFFF"/>
          </a:solidFill>
          <a:ln w="10478">
            <a:solidFill>
              <a:srgbClr val="6F8FAE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完整链路：从想法到可交付书稿</a:t>
            </a:r>
            <a:endParaRPr sz="16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562600" y="1657350"/>
            <a:ext cx="5810250" cy="4191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5865" y="1652270"/>
            <a:ext cx="6846570" cy="3441700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57200" y="285750"/>
            <a:ext cx="723900" cy="28575"/>
          </a:xfrm>
          <a:prstGeom prst="rect">
            <a:avLst/>
          </a:prstGeom>
          <a:solidFill>
            <a:srgbClr val="6F8FAE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220450" y="45720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2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57200" y="438150"/>
            <a:ext cx="1032192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从书稿创建开始，建立写作项目</a:t>
            </a:r>
            <a:endParaRPr sz="32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76250" y="1676400"/>
            <a:ext cx="44005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通过书名、分类、体裁和创建方式，为后续 AI 生成建立基础上下文。</a:t>
            </a:r>
            <a:endParaRPr sz="16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椭圆 6"/>
          <p:cNvSpPr>
            <a:spLocks noGrp="1"/>
          </p:cNvSpPr>
          <p:nvPr/>
        </p:nvSpPr>
        <p:spPr>
          <a:xfrm>
            <a:off x="514350" y="2981325"/>
            <a:ext cx="95250" cy="95250"/>
          </a:xfrm>
          <a:prstGeom prst="ellipse">
            <a:avLst/>
          </a:prstGeom>
          <a:solidFill>
            <a:srgbClr val="6F8FAE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2895600"/>
            <a:ext cx="3867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填写书名、一级分类、二级体裁</a:t>
            </a:r>
            <a:endParaRPr sz="16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514350" y="3438525"/>
            <a:ext cx="95250" cy="95250"/>
          </a:xfrm>
          <a:prstGeom prst="ellipse">
            <a:avLst/>
          </a:prstGeom>
          <a:solidFill>
            <a:srgbClr val="6F8FAE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42950" y="3352800"/>
            <a:ext cx="3867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设置学科信息</a:t>
            </a:r>
            <a:endParaRPr sz="16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514350" y="3895725"/>
            <a:ext cx="95250" cy="95250"/>
          </a:xfrm>
          <a:prstGeom prst="ellipse">
            <a:avLst/>
          </a:prstGeom>
          <a:solidFill>
            <a:srgbClr val="6F8FAE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42950" y="3810000"/>
            <a:ext cx="3867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支持手动创建与一键生成</a:t>
            </a:r>
            <a:endParaRPr sz="16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476250" y="5029200"/>
            <a:ext cx="4095750" cy="361950"/>
          </a:xfrm>
          <a:prstGeom prst="roundRect">
            <a:avLst/>
          </a:prstGeom>
          <a:solidFill>
            <a:srgbClr val="FFFFFF"/>
          </a:solidFill>
          <a:ln w="10478">
            <a:solidFill>
              <a:srgbClr val="6F8FAE"/>
            </a:solidFill>
            <a:prstDash val="solid"/>
          </a:ln>
        </p:spPr>
        <p:txBody>
          <a:bodyPr>
            <a:noAutofit/>
          </a:bodyPr>
          <a:lstStyle/>
          <a:p>
            <a:pPr lvl="0" algn="ctr">
              <a:buClrTx/>
              <a:buSzTx/>
              <a:buFontTx/>
              <a:defRPr sz="1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ym typeface="+mn-ea"/>
              </a:rPr>
              <a:t>明确主题和写作类型</a:t>
            </a:r>
            <a:endParaRPr sz="1600">
              <a:sym typeface="+mn-ea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7845" y="1368425"/>
            <a:ext cx="4343400" cy="4121150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57200" y="285750"/>
            <a:ext cx="723900" cy="28575"/>
          </a:xfrm>
          <a:prstGeom prst="rect">
            <a:avLst/>
          </a:prstGeom>
          <a:solidFill>
            <a:srgbClr val="6F8FAE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220450" y="45720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6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57200" y="438150"/>
            <a:ext cx="1086421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通过书稿设定控制 AI 写作方向</a:t>
            </a:r>
            <a:endParaRPr sz="32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76250" y="1676400"/>
            <a:ext cx="44005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书稿设定是整本书的写作约束，决定生成内容是否贴合用户需求。</a:t>
            </a:r>
            <a:endParaRPr sz="16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椭圆 6"/>
          <p:cNvSpPr>
            <a:spLocks noGrp="1"/>
          </p:cNvSpPr>
          <p:nvPr/>
        </p:nvSpPr>
        <p:spPr>
          <a:xfrm>
            <a:off x="514350" y="2981325"/>
            <a:ext cx="95250" cy="95250"/>
          </a:xfrm>
          <a:prstGeom prst="ellipse">
            <a:avLst/>
          </a:prstGeom>
          <a:solidFill>
            <a:srgbClr val="6F8FAE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2895600"/>
            <a:ext cx="3867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设置目标读者与主题要点</a:t>
            </a:r>
            <a:endParaRPr sz="16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514350" y="3438525"/>
            <a:ext cx="95250" cy="95250"/>
          </a:xfrm>
          <a:prstGeom prst="ellipse">
            <a:avLst/>
          </a:prstGeom>
          <a:solidFill>
            <a:srgbClr val="6F8FAE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42950" y="3352800"/>
            <a:ext cx="3867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设置目标字数和体例风格</a:t>
            </a:r>
            <a:endParaRPr sz="16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514350" y="3895725"/>
            <a:ext cx="95250" cy="95250"/>
          </a:xfrm>
          <a:prstGeom prst="ellipse">
            <a:avLst/>
          </a:prstGeom>
          <a:solidFill>
            <a:srgbClr val="6F8FAE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42950" y="3810000"/>
            <a:ext cx="3867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上传参考资料并生成大纲</a:t>
            </a:r>
            <a:endParaRPr sz="16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476250" y="5029200"/>
            <a:ext cx="4095750" cy="361950"/>
          </a:xfrm>
          <a:prstGeom prst="roundRect">
            <a:avLst/>
          </a:prstGeom>
          <a:solidFill>
            <a:srgbClr val="FFFFFF"/>
          </a:solidFill>
          <a:ln w="10478">
            <a:solidFill>
              <a:srgbClr val="6F8FAE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降低跑题概率，支持资料驱动写作</a:t>
            </a:r>
            <a:endParaRPr sz="16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9965" y="1268730"/>
            <a:ext cx="7075170" cy="4994910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57200" y="285750"/>
            <a:ext cx="723900" cy="28575"/>
          </a:xfrm>
          <a:prstGeom prst="rect">
            <a:avLst/>
          </a:prstGeom>
          <a:solidFill>
            <a:srgbClr val="6F8FAE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220450" y="45720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2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57200" y="438150"/>
            <a:ext cx="912431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大纲生成与编辑调整</a:t>
            </a:r>
            <a:endParaRPr sz="32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76250" y="1676400"/>
            <a:ext cx="44005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先生成可编辑的大纲，再进入正文写作，让整本书结构更可控。</a:t>
            </a:r>
            <a:endParaRPr sz="16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椭圆 6"/>
          <p:cNvSpPr>
            <a:spLocks noGrp="1"/>
          </p:cNvSpPr>
          <p:nvPr/>
        </p:nvSpPr>
        <p:spPr>
          <a:xfrm>
            <a:off x="514350" y="2981325"/>
            <a:ext cx="95250" cy="95250"/>
          </a:xfrm>
          <a:prstGeom prst="ellipse">
            <a:avLst/>
          </a:prstGeom>
          <a:solidFill>
            <a:srgbClr val="6F8FAE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2895600"/>
            <a:ext cx="3867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自动生成章节结构</a:t>
            </a:r>
            <a:endParaRPr sz="16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514350" y="3438525"/>
            <a:ext cx="95250" cy="95250"/>
          </a:xfrm>
          <a:prstGeom prst="ellipse">
            <a:avLst/>
          </a:prstGeom>
          <a:solidFill>
            <a:srgbClr val="6F8FAE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42950" y="3352800"/>
            <a:ext cx="3867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编辑标题、摘要和关键点</a:t>
            </a:r>
            <a:endParaRPr sz="16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514350" y="3895725"/>
            <a:ext cx="95250" cy="95250"/>
          </a:xfrm>
          <a:prstGeom prst="ellipse">
            <a:avLst/>
          </a:prstGeom>
          <a:solidFill>
            <a:srgbClr val="6F8FAE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42950" y="3810000"/>
            <a:ext cx="3867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调整章节顺序并确认大纲</a:t>
            </a:r>
            <a:endParaRPr sz="16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476250" y="5029200"/>
            <a:ext cx="4095750" cy="361950"/>
          </a:xfrm>
          <a:prstGeom prst="roundRect">
            <a:avLst/>
          </a:prstGeom>
          <a:solidFill>
            <a:srgbClr val="FFFFFF"/>
          </a:solidFill>
          <a:ln w="10478">
            <a:solidFill>
              <a:srgbClr val="6F8FAE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从主题到结构，先规划再写作</a:t>
            </a:r>
            <a:endParaRPr sz="16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9965" y="1268730"/>
            <a:ext cx="7011035" cy="4777740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57200" y="285750"/>
            <a:ext cx="723900" cy="28575"/>
          </a:xfrm>
          <a:prstGeom prst="rect">
            <a:avLst/>
          </a:prstGeom>
          <a:solidFill>
            <a:srgbClr val="6F8FAE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220450" y="45720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6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57200" y="43815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集中式写作界面：目录、正文、辅助面板三栏协同</a:t>
            </a:r>
            <a:endParaRPr sz="28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76250" y="1104900"/>
            <a:ext cx="8763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在同一页面完成章节切换、正文编辑、AI 辅助、图表处理、文献引用和审校。</a:t>
            </a:r>
            <a:endParaRPr sz="16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850" y="1628775"/>
            <a:ext cx="9785350" cy="4842510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57200" y="285750"/>
            <a:ext cx="723900" cy="28575"/>
          </a:xfrm>
          <a:prstGeom prst="rect">
            <a:avLst/>
          </a:prstGeom>
          <a:solidFill>
            <a:srgbClr val="6F8FAE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220450" y="45720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6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57200" y="438150"/>
            <a:ext cx="1166685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面向局部文本的 AI 改写与优化能力</a:t>
            </a:r>
            <a:endParaRPr sz="32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76250" y="1676400"/>
            <a:ext cx="44005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处理正文中的局部内容，生成结果先预览，确认后再应用。</a:t>
            </a:r>
            <a:endParaRPr sz="16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椭圆 6"/>
          <p:cNvSpPr>
            <a:spLocks noGrp="1"/>
          </p:cNvSpPr>
          <p:nvPr/>
        </p:nvSpPr>
        <p:spPr>
          <a:xfrm>
            <a:off x="514350" y="2981325"/>
            <a:ext cx="95250" cy="95250"/>
          </a:xfrm>
          <a:prstGeom prst="ellipse">
            <a:avLst/>
          </a:prstGeom>
          <a:solidFill>
            <a:srgbClr val="6F8FAE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2895600"/>
            <a:ext cx="3867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选中文字后润色、改写、扩写</a:t>
            </a:r>
            <a:endParaRPr sz="16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514350" y="3438525"/>
            <a:ext cx="95250" cy="95250"/>
          </a:xfrm>
          <a:prstGeom prst="ellipse">
            <a:avLst/>
          </a:prstGeom>
          <a:solidFill>
            <a:srgbClr val="6F8FAE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42950" y="3352800"/>
            <a:ext cx="3867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压缩段落、调整风格、检查术语</a:t>
            </a:r>
            <a:endParaRPr sz="16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514350" y="3895725"/>
            <a:ext cx="95250" cy="95250"/>
          </a:xfrm>
          <a:prstGeom prst="ellipse">
            <a:avLst/>
          </a:prstGeom>
          <a:solidFill>
            <a:srgbClr val="6F8FAE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42950" y="3810000"/>
            <a:ext cx="3867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预览建议后再写回正文</a:t>
            </a:r>
            <a:endParaRPr sz="16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476250" y="5029200"/>
            <a:ext cx="4095750" cy="361950"/>
          </a:xfrm>
          <a:prstGeom prst="roundRect">
            <a:avLst/>
          </a:prstGeom>
          <a:solidFill>
            <a:srgbClr val="FFFFFF"/>
          </a:solidFill>
          <a:ln w="10478">
            <a:solidFill>
              <a:srgbClr val="6F8FAE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局部精修，避免整章重写失控</a:t>
            </a:r>
            <a:endParaRPr sz="16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3835" y="1025525"/>
            <a:ext cx="2724150" cy="4806950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57200" y="285750"/>
            <a:ext cx="723900" cy="28575"/>
          </a:xfrm>
          <a:prstGeom prst="rect">
            <a:avLst/>
          </a:prstGeom>
          <a:solidFill>
            <a:srgbClr val="6F8FAE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220450" y="45720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6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57200" y="438150"/>
            <a:ext cx="744664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章节图表统一生成、替换与管理</a:t>
            </a:r>
            <a:endParaRPr sz="32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76250" y="1676400"/>
            <a:ext cx="44005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管理正文中的图表占位，支持生成、重生成、上传替换和顺序整理。</a:t>
            </a:r>
            <a:endParaRPr sz="16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椭圆 6"/>
          <p:cNvSpPr>
            <a:spLocks noGrp="1"/>
          </p:cNvSpPr>
          <p:nvPr/>
        </p:nvSpPr>
        <p:spPr>
          <a:xfrm>
            <a:off x="514350" y="2981325"/>
            <a:ext cx="95250" cy="95250"/>
          </a:xfrm>
          <a:prstGeom prst="ellipse">
            <a:avLst/>
          </a:prstGeom>
          <a:solidFill>
            <a:srgbClr val="6F8FAE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2895600"/>
            <a:ext cx="3867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查看本章图表占位和状态</a:t>
            </a:r>
            <a:endParaRPr sz="16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514350" y="3438525"/>
            <a:ext cx="95250" cy="95250"/>
          </a:xfrm>
          <a:prstGeom prst="ellipse">
            <a:avLst/>
          </a:prstGeom>
          <a:solidFill>
            <a:srgbClr val="6F8FAE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42950" y="3352800"/>
            <a:ext cx="3867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一键生成或单图重新生成</a:t>
            </a:r>
            <a:endParaRPr sz="16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514350" y="3895725"/>
            <a:ext cx="95250" cy="95250"/>
          </a:xfrm>
          <a:prstGeom prst="ellipse">
            <a:avLst/>
          </a:prstGeom>
          <a:solidFill>
            <a:srgbClr val="6F8FAE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42950" y="3810000"/>
            <a:ext cx="3867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上传本地图替换并恢复正文位置</a:t>
            </a:r>
            <a:endParaRPr sz="16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476250" y="5029200"/>
            <a:ext cx="4095750" cy="361950"/>
          </a:xfrm>
          <a:prstGeom prst="roundRect">
            <a:avLst/>
          </a:prstGeom>
          <a:solidFill>
            <a:srgbClr val="FFFFFF"/>
          </a:solidFill>
          <a:ln w="10478">
            <a:solidFill>
              <a:srgbClr val="6F8FAE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降低插图制作成本，保持图文绑定</a:t>
            </a:r>
            <a:endParaRPr sz="16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7600" y="1340485"/>
            <a:ext cx="2743200" cy="4381500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57200" y="285750"/>
            <a:ext cx="723900" cy="28575"/>
          </a:xfrm>
          <a:prstGeom prst="rect">
            <a:avLst/>
          </a:prstGeom>
          <a:solidFill>
            <a:srgbClr val="6F8FAE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220450" y="45720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6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57200" y="438150"/>
            <a:ext cx="949579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支持资料驱动写作与引用管理</a:t>
            </a:r>
            <a:endParaRPr sz="32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76250" y="1676400"/>
            <a:ext cx="44005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上传资料和文献搜索让书稿内容有依据，适合学术专著和行业报告。</a:t>
            </a:r>
            <a:endParaRPr sz="16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椭圆 6"/>
          <p:cNvSpPr>
            <a:spLocks noGrp="1"/>
          </p:cNvSpPr>
          <p:nvPr/>
        </p:nvSpPr>
        <p:spPr>
          <a:xfrm>
            <a:off x="514350" y="2981325"/>
            <a:ext cx="95250" cy="95250"/>
          </a:xfrm>
          <a:prstGeom prst="ellipse">
            <a:avLst/>
          </a:prstGeom>
          <a:solidFill>
            <a:srgbClr val="6F8FAE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2895600"/>
            <a:ext cx="3867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上传 PDF、Word、文本资料</a:t>
            </a:r>
            <a:endParaRPr sz="16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514350" y="3438525"/>
            <a:ext cx="95250" cy="95250"/>
          </a:xfrm>
          <a:prstGeom prst="ellipse">
            <a:avLst/>
          </a:prstGeom>
          <a:solidFill>
            <a:srgbClr val="6F8FAE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42950" y="3352800"/>
            <a:ext cx="3867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文献搜索与引用句插入</a:t>
            </a:r>
            <a:endParaRPr sz="16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514350" y="3895725"/>
            <a:ext cx="95250" cy="95250"/>
          </a:xfrm>
          <a:prstGeom prst="ellipse">
            <a:avLst/>
          </a:prstGeom>
          <a:solidFill>
            <a:srgbClr val="6F8FAE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42950" y="3810000"/>
            <a:ext cx="3867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 APA、MLA、Chicago、GB/T 7714</a:t>
            </a:r>
            <a:endParaRPr sz="16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457200" y="5013325"/>
            <a:ext cx="4095750" cy="361950"/>
          </a:xfrm>
          <a:prstGeom prst="roundRect">
            <a:avLst/>
          </a:prstGeom>
          <a:solidFill>
            <a:srgbClr val="FFFFFF"/>
          </a:solidFill>
          <a:ln w="10478">
            <a:solidFill>
              <a:srgbClr val="6F8FAE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提高资料型内容可信度</a:t>
            </a:r>
            <a:endParaRPr sz="16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3790" y="1101725"/>
            <a:ext cx="2552700" cy="4768850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57200" y="285750"/>
            <a:ext cx="723900" cy="28575"/>
          </a:xfrm>
          <a:prstGeom prst="rect">
            <a:avLst/>
          </a:prstGeom>
          <a:solidFill>
            <a:srgbClr val="6F8FAE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220450" y="45720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6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57200" y="438150"/>
            <a:ext cx="4762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从初稿生成到章节质量检查</a:t>
            </a:r>
            <a:endParaRPr sz="32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76250" y="1676400"/>
            <a:ext cx="44005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检查章节结构、表达、逻辑和可读性，并提供可预览、可应用的修改建议。</a:t>
            </a:r>
            <a:endParaRPr sz="16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椭圆 6"/>
          <p:cNvSpPr>
            <a:spLocks noGrp="1"/>
          </p:cNvSpPr>
          <p:nvPr/>
        </p:nvSpPr>
        <p:spPr>
          <a:xfrm>
            <a:off x="514350" y="2981325"/>
            <a:ext cx="95250" cy="95250"/>
          </a:xfrm>
          <a:prstGeom prst="ellipse">
            <a:avLst/>
          </a:prstGeom>
          <a:solidFill>
            <a:srgbClr val="6F8FAE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2895600"/>
            <a:ext cx="3867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审校本章与重新审校</a:t>
            </a:r>
            <a:endParaRPr sz="16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514350" y="3438525"/>
            <a:ext cx="95250" cy="95250"/>
          </a:xfrm>
          <a:prstGeom prst="ellipse">
            <a:avLst/>
          </a:prstGeom>
          <a:solidFill>
            <a:srgbClr val="6F8FAE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42950" y="3352800"/>
            <a:ext cx="3867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检查结构、表达、逻辑、可读性</a:t>
            </a:r>
            <a:endParaRPr sz="16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514350" y="3895725"/>
            <a:ext cx="95250" cy="95250"/>
          </a:xfrm>
          <a:prstGeom prst="ellipse">
            <a:avLst/>
          </a:prstGeom>
          <a:solidFill>
            <a:srgbClr val="6F8FAE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42950" y="3810000"/>
            <a:ext cx="3867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降低 AI 味并预览修改建议</a:t>
            </a:r>
            <a:endParaRPr sz="16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476250" y="5029200"/>
            <a:ext cx="4095750" cy="361950"/>
          </a:xfrm>
          <a:prstGeom prst="roundRect">
            <a:avLst/>
          </a:prstGeom>
          <a:solidFill>
            <a:srgbClr val="FFFFFF"/>
          </a:solidFill>
          <a:ln w="10478">
            <a:solidFill>
              <a:srgbClr val="6F8FAE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把生成内容打磨为可读初稿</a:t>
            </a:r>
            <a:endParaRPr sz="16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935" y="1600200"/>
            <a:ext cx="2692400" cy="3905250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5715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57200" y="285750"/>
            <a:ext cx="723900" cy="28575"/>
          </a:xfrm>
          <a:prstGeom prst="rect">
            <a:avLst/>
          </a:prstGeom>
          <a:solidFill>
            <a:srgbClr val="6F8FAE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220450" y="45720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6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57200" y="438150"/>
            <a:ext cx="4762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多格式导出，形成最终书稿成果</a:t>
            </a:r>
            <a:endParaRPr sz="32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76250" y="1676400"/>
            <a:ext cx="44005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将系统中的书稿内容输出为可继续编辑、可审阅或可交付的文件。</a:t>
            </a:r>
            <a:endParaRPr sz="16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椭圆 6"/>
          <p:cNvSpPr>
            <a:spLocks noGrp="1"/>
          </p:cNvSpPr>
          <p:nvPr/>
        </p:nvSpPr>
        <p:spPr>
          <a:xfrm>
            <a:off x="514350" y="2981325"/>
            <a:ext cx="95250" cy="95250"/>
          </a:xfrm>
          <a:prstGeom prst="ellipse">
            <a:avLst/>
          </a:prstGeom>
          <a:solidFill>
            <a:srgbClr val="6F8FAE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2895600"/>
            <a:ext cx="3867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导出 Markdown、Word、PDF</a:t>
            </a:r>
            <a:endParaRPr sz="16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514350" y="3438525"/>
            <a:ext cx="95250" cy="95250"/>
          </a:xfrm>
          <a:prstGeom prst="ellipse">
            <a:avLst/>
          </a:prstGeom>
          <a:solidFill>
            <a:srgbClr val="6F8FAE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42950" y="3352800"/>
            <a:ext cx="3867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导出前检查章节与图表状态</a:t>
            </a:r>
            <a:endParaRPr sz="16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514350" y="3895725"/>
            <a:ext cx="95250" cy="95250"/>
          </a:xfrm>
          <a:prstGeom prst="ellipse">
            <a:avLst/>
          </a:prstGeom>
          <a:solidFill>
            <a:srgbClr val="6F8FAE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42950" y="3810000"/>
            <a:ext cx="3867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进入排版、审阅和交付流程</a:t>
            </a:r>
            <a:endParaRPr sz="16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476250" y="5029200"/>
            <a:ext cx="4095750" cy="361950"/>
          </a:xfrm>
          <a:prstGeom prst="roundRect">
            <a:avLst/>
          </a:prstGeom>
          <a:solidFill>
            <a:srgbClr val="FFFFFF"/>
          </a:solidFill>
          <a:ln w="10478">
            <a:solidFill>
              <a:srgbClr val="6F8FAE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从系统编辑到外部文件交付的闭环</a:t>
            </a:r>
            <a:endParaRPr sz="16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9700" y="1268730"/>
            <a:ext cx="5626100" cy="4235450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949</Words>
  <Application>WPS 演示</Application>
  <PresentationFormat>Converted Presentation</PresentationFormat>
  <Paragraphs>133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冬夏</cp:lastModifiedBy>
  <cp:revision>1</cp:revision>
  <dcterms:created xsi:type="dcterms:W3CDTF">2026-06-17T13:25:40Z</dcterms:created>
  <dcterms:modified xsi:type="dcterms:W3CDTF">2026-06-17T13:25:40Z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549CF1FC52924833BE02FC4835BFA1DE_12</vt:lpwstr>
  </property>
  <property fmtid="{D5CDD505-2E9C-101B-9397-08002B2CF9AE}" pid="3" name="KSOProductBuildVer">
    <vt:lpwstr>2052-12.1.0.21915</vt:lpwstr>
  </property>
</Properties>
</file>